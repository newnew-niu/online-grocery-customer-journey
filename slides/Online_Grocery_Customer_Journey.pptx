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Public Sans" pitchFamily="34" charset="0"/>
      <p:regular r:id="rId19"/>
      <p:bold r:id="rId20"/>
    </p:embeddedFont>
    <p:embeddedFont>
      <p:font typeface="Rubik"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portfolio project, four modules, one story. Every number in this deck comes from code that ran on real public data. None of the datasets is Tesco data, and I say where each one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runs left to right. Complaints tell us what hurts. The funnel shows where people leave. Transaction data shows who matters and whether promotions work. The last module designs a test for the top fixable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 of the 2,091 reviews are negative (one or two stars). One review can mention several stages. Delivery is not the main problem: reviews that mention delivery average 4.25 stars, so most of them are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checked the tagging: I hand-labelled two random samples of 100 negative reviews. The first was used to fix the rules. The second was never used to write rules, so its score is the honest one. The stage shares from the rules and from the hand labels were almost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SQL query turns raw GA4 events into 360,129 sessions with a flag for each step. It scans 1.16 GB, inside the free sandbox. The chart is a closed funnel: a session counts at a step only if it did every earlier step in the same visit. 2,000 purchases happened in visits with no add-to-cart, so people often fill the basket one day and buy another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links back to Module 1. Login complaints have the lowest ratings, and here first-time users lose more than half their sessions between checkout and payment, where they must sign in or create an account. Device was not the problem in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RFM gives each household a 1 to 5 score for recency, frequency and spend, using quintiles. The score patterns map to seven named groups. A typical household shops every four days, with an average basket of $29.68.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compares how much the targeted group changed with how much a similar untargeted group changed. The key assumption is parallel trends. The left side of each panel checks it: it passes for campaigns 8 and 18 and is borderline for 13. A null result is still useful. It is the reason to add a random holdout group to future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coupon users first look less active than light users, but they also shopped less often in the first half. Coupon share is a ratio, so fewer trips push it up. Shopping frequency is the confounder. After controlling for it, more coupon use goes with slightly more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rules are set before the test: check the 50/50 split first, no peeking, ship only if the primary metric is significantly up and no guardrail is harmed. Analysing only users who reach the payment page matters: measuring all users would need about 631,000 per group instead of 2,959. A simulation of 2,000 tests with a true 3-point lift detected it 80.6% of the time, matching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action already has a full test plan from Module 4. Actions 2 and 3 are the other two hypotheses from Module 1, and each could get the same kind of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be clear about limits than overclaim. The methods, from the SQL funnel to RFM, difference-in-differences and the power calculation, would run the same way on a retailer’s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2420"/>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B2420"/>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B2420"/>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B2420"/>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8FC1A9"/>
                </a:solidFill>
                <a:latin typeface="Public Sans" pitchFamily="34" charset="0"/>
                <a:ea typeface="Public Sans" pitchFamily="34" charset="-122"/>
                <a:cs typeface="Public Sans" pitchFamily="34" charset="-120"/>
              </a:rPr>
              <a:t>PORTFOLIO PROJECT · ONLINE CUSTOMER ANALYTICS</a:t>
            </a:r>
            <a:endParaRPr lang="en-US" sz="1400" dirty="0"/>
          </a:p>
        </p:txBody>
      </p:sp>
      <p:sp>
        <p:nvSpPr>
          <p:cNvPr id="3" name="Text 1"/>
          <p:cNvSpPr/>
          <p:nvPr>
            <p:ph type="title"/>
          </p:nvPr>
        </p:nvSpPr>
        <p:spPr>
          <a:xfrm>
            <a:off x="812800" y="220732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F4EF"/>
                </a:solidFill>
                <a:latin typeface="Rubik" pitchFamily="34" charset="0"/>
                <a:ea typeface="Rubik" pitchFamily="34" charset="-122"/>
                <a:cs typeface="Rubik" pitchFamily="34" charset="-120"/>
              </a:rPr>
              <a:t>Online Grocery</a:t>
            </a:r>
            <a:endParaRPr lang="en-US" sz="5600" dirty="0"/>
          </a:p>
          <a:p>
            <a:pPr algn="l" indent="0" marL="0">
              <a:lnSpc>
                <a:spcPts val="5880"/>
              </a:lnSpc>
              <a:buNone/>
            </a:pPr>
            <a:r>
              <a:rPr lang="en-US" sz="5600" b="1" i="0" dirty="0">
                <a:solidFill>
                  <a:srgbClr val="F2F4EF"/>
                </a:solidFill>
                <a:latin typeface="Rubik" pitchFamily="34" charset="0"/>
                <a:ea typeface="Rubik" pitchFamily="34" charset="-122"/>
                <a:cs typeface="Rubik" pitchFamily="34" charset="-120"/>
              </a:rPr>
              <a:t>Customer Journey</a:t>
            </a:r>
            <a:endParaRPr lang="en-US" sz="5600" dirty="0"/>
          </a:p>
        </p:txBody>
      </p:sp>
      <p:sp>
        <p:nvSpPr>
          <p:cNvPr id="4" name="Text 2"/>
          <p:cNvSpPr/>
          <p:nvPr/>
        </p:nvSpPr>
        <p:spPr>
          <a:xfrm>
            <a:off x="812800" y="392936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6CF"/>
                </a:solidFill>
                <a:latin typeface="Public Sans" pitchFamily="34" charset="0"/>
                <a:ea typeface="Public Sans" pitchFamily="34" charset="-122"/>
                <a:cs typeface="Public Sans" pitchFamily="34" charset="-120"/>
              </a:rPr>
              <a:t>What customers complain about, where they drop off online, what keeps them loyal, and how we would test a fix.</a:t>
            </a:r>
            <a:endParaRPr lang="en-US" sz="2000" dirty="0"/>
          </a:p>
        </p:txBody>
      </p:sp>
      <p:sp>
        <p:nvSpPr>
          <p:cNvPr id="5" name="Text 3"/>
          <p:cNvSpPr/>
          <p:nvPr/>
        </p:nvSpPr>
        <p:spPr>
          <a:xfrm>
            <a:off x="812800" y="5760740"/>
            <a:ext cx="195357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4EF"/>
                </a:solidFill>
                <a:latin typeface="Public Sans" pitchFamily="34" charset="0"/>
                <a:ea typeface="Public Sans" pitchFamily="34" charset="-122"/>
                <a:cs typeface="Public Sans" pitchFamily="34" charset="-120"/>
              </a:rPr>
              <a:t>Faye (Xuefei) Niu</a:t>
            </a:r>
            <a:endParaRPr lang="en-US" sz="1600" dirty="0"/>
          </a:p>
        </p:txBody>
      </p:sp>
      <p:sp>
        <p:nvSpPr>
          <p:cNvPr id="6" name="Text 4"/>
          <p:cNvSpPr/>
          <p:nvPr/>
        </p:nvSpPr>
        <p:spPr>
          <a:xfrm>
            <a:off x="6618665" y="5831880"/>
            <a:ext cx="47605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A9"/>
                </a:solidFill>
                <a:latin typeface="Public Sans" pitchFamily="34" charset="0"/>
                <a:ea typeface="Public Sans" pitchFamily="34" charset="-122"/>
                <a:cs typeface="Public Sans" pitchFamily="34" charset="-120"/>
              </a:rPr>
              <a:t>Real public data · October 2026 · None of it is Tesco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Four questions, four real datasets</a:t>
            </a:r>
            <a:endParaRPr lang="en-US" sz="3200" dirty="0"/>
          </a:p>
        </p:txBody>
      </p:sp>
      <p:sp>
        <p:nvSpPr>
          <p:cNvPr id="3" name="Shape 1"/>
          <p:cNvSpPr/>
          <p:nvPr/>
        </p:nvSpPr>
        <p:spPr>
          <a:xfrm>
            <a:off x="815975" y="1638895"/>
            <a:ext cx="2482850" cy="3341092"/>
          </a:xfrm>
          <a:prstGeom prst="roundRect">
            <a:avLst>
              <a:gd name="adj" fmla="val 3964"/>
            </a:avLst>
          </a:prstGeom>
          <a:solidFill>
            <a:srgbClr val="FCFCFB"/>
          </a:solidFill>
          <a:ln w="6350">
            <a:solidFill>
              <a:srgbClr val="DEE2DA"/>
            </a:solidFill>
            <a:prstDash val="solid"/>
          </a:ln>
        </p:spPr>
      </p:sp>
      <p:sp>
        <p:nvSpPr>
          <p:cNvPr id="4" name="Text 2"/>
          <p:cNvSpPr/>
          <p:nvPr/>
        </p:nvSpPr>
        <p:spPr>
          <a:xfrm>
            <a:off x="1047750" y="1870670"/>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Public Sans" pitchFamily="34" charset="0"/>
                <a:ea typeface="Public Sans" pitchFamily="34" charset="-122"/>
                <a:cs typeface="Public Sans" pitchFamily="34" charset="-120"/>
              </a:rPr>
              <a:t>1 · COMPLAINTS</a:t>
            </a:r>
            <a:endParaRPr lang="en-US" sz="1200" dirty="0"/>
          </a:p>
        </p:txBody>
      </p:sp>
      <p:sp>
        <p:nvSpPr>
          <p:cNvPr id="5" name="Text 3"/>
          <p:cNvSpPr/>
          <p:nvPr/>
        </p:nvSpPr>
        <p:spPr>
          <a:xfrm>
            <a:off x="1047750" y="2210991"/>
            <a:ext cx="2079879" cy="57398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420"/>
                </a:solidFill>
                <a:latin typeface="Rubik" pitchFamily="34" charset="0"/>
                <a:ea typeface="Rubik" pitchFamily="34" charset="-122"/>
                <a:cs typeface="Rubik" pitchFamily="34" charset="-120"/>
              </a:rPr>
              <a:t>What do app users complain about?</a:t>
            </a:r>
            <a:endParaRPr lang="en-US" sz="1800" dirty="0"/>
          </a:p>
        </p:txBody>
      </p:sp>
      <p:sp>
        <p:nvSpPr>
          <p:cNvPr id="6" name="Text 4"/>
          <p:cNvSpPr/>
          <p:nvPr/>
        </p:nvSpPr>
        <p:spPr>
          <a:xfrm>
            <a:off x="1047750" y="2886571"/>
            <a:ext cx="207987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5B"/>
                </a:solidFill>
                <a:latin typeface="Public Sans" pitchFamily="34" charset="0"/>
                <a:ea typeface="Public Sans" pitchFamily="34" charset="-122"/>
                <a:cs typeface="Public Sans" pitchFamily="34" charset="-120"/>
              </a:rPr>
              <a:t>2,091 app reviews of Tesco Ireland, Dunnes Stores and SuperValu</a:t>
            </a:r>
            <a:endParaRPr lang="en-US" sz="1200" dirty="0"/>
          </a:p>
        </p:txBody>
      </p:sp>
      <p:sp>
        <p:nvSpPr>
          <p:cNvPr id="7" name="Text 5"/>
          <p:cNvSpPr/>
          <p:nvPr/>
        </p:nvSpPr>
        <p:spPr>
          <a:xfrm>
            <a:off x="1047750" y="4285952"/>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2420"/>
                </a:solidFill>
                <a:latin typeface="Public Sans" pitchFamily="34" charset="0"/>
                <a:ea typeface="Public Sans" pitchFamily="34" charset="-122"/>
                <a:cs typeface="Public Sans" pitchFamily="34" charset="-120"/>
              </a:rPr>
              <a:t>App speed and login hurt most</a:t>
            </a:r>
            <a:endParaRPr lang="en-US" sz="1400" dirty="0"/>
          </a:p>
        </p:txBody>
      </p:sp>
      <p:sp>
        <p:nvSpPr>
          <p:cNvPr id="8" name="Shape 6"/>
          <p:cNvSpPr/>
          <p:nvPr/>
        </p:nvSpPr>
        <p:spPr>
          <a:xfrm>
            <a:off x="3508375" y="1638895"/>
            <a:ext cx="2482850" cy="3341092"/>
          </a:xfrm>
          <a:prstGeom prst="roundRect">
            <a:avLst>
              <a:gd name="adj" fmla="val 3964"/>
            </a:avLst>
          </a:prstGeom>
          <a:solidFill>
            <a:srgbClr val="FCFCFB"/>
          </a:solidFill>
          <a:ln w="6350">
            <a:solidFill>
              <a:srgbClr val="DEE2DA"/>
            </a:solidFill>
            <a:prstDash val="solid"/>
          </a:ln>
        </p:spPr>
      </p:sp>
      <p:sp>
        <p:nvSpPr>
          <p:cNvPr id="9" name="Text 7"/>
          <p:cNvSpPr/>
          <p:nvPr/>
        </p:nvSpPr>
        <p:spPr>
          <a:xfrm>
            <a:off x="3740150" y="1870670"/>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Public Sans" pitchFamily="34" charset="0"/>
                <a:ea typeface="Public Sans" pitchFamily="34" charset="-122"/>
                <a:cs typeface="Public Sans" pitchFamily="34" charset="-120"/>
              </a:rPr>
              <a:t>2 · FUNNEL</a:t>
            </a:r>
            <a:endParaRPr lang="en-US" sz="1200" dirty="0"/>
          </a:p>
        </p:txBody>
      </p:sp>
      <p:sp>
        <p:nvSpPr>
          <p:cNvPr id="10" name="Text 8"/>
          <p:cNvSpPr/>
          <p:nvPr/>
        </p:nvSpPr>
        <p:spPr>
          <a:xfrm>
            <a:off x="3740150" y="2210991"/>
            <a:ext cx="2079879"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420"/>
                </a:solidFill>
                <a:latin typeface="Rubik" pitchFamily="34" charset="0"/>
                <a:ea typeface="Rubik" pitchFamily="34" charset="-122"/>
                <a:cs typeface="Rubik" pitchFamily="34" charset="-120"/>
              </a:rPr>
              <a:t>Where do shoppers drop off online?</a:t>
            </a:r>
            <a:endParaRPr lang="en-US" sz="1800" dirty="0"/>
          </a:p>
        </p:txBody>
      </p:sp>
      <p:sp>
        <p:nvSpPr>
          <p:cNvPr id="11" name="Text 9"/>
          <p:cNvSpPr/>
          <p:nvPr/>
        </p:nvSpPr>
        <p:spPr>
          <a:xfrm>
            <a:off x="3740150" y="3160861"/>
            <a:ext cx="207987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5B"/>
                </a:solidFill>
                <a:latin typeface="Public Sans" pitchFamily="34" charset="0"/>
                <a:ea typeface="Public Sans" pitchFamily="34" charset="-122"/>
                <a:cs typeface="Public Sans" pitchFamily="34" charset="-120"/>
              </a:rPr>
              <a:t>360,129 GA4 sessions from the Google Merchandise Store</a:t>
            </a:r>
            <a:endParaRPr lang="en-US" sz="1200" dirty="0"/>
          </a:p>
        </p:txBody>
      </p:sp>
      <p:sp>
        <p:nvSpPr>
          <p:cNvPr id="12" name="Text 10"/>
          <p:cNvSpPr/>
          <p:nvPr/>
        </p:nvSpPr>
        <p:spPr>
          <a:xfrm>
            <a:off x="3740150" y="4054822"/>
            <a:ext cx="2079879" cy="71879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2420"/>
                </a:solidFill>
                <a:latin typeface="Public Sans" pitchFamily="34" charset="0"/>
                <a:ea typeface="Public Sans" pitchFamily="34" charset="-122"/>
                <a:cs typeface="Public Sans" pitchFamily="34" charset="-120"/>
              </a:rPr>
              <a:t>Only 20% go from viewing to adding to cart</a:t>
            </a:r>
            <a:endParaRPr lang="en-US" sz="1400" dirty="0"/>
          </a:p>
        </p:txBody>
      </p:sp>
      <p:sp>
        <p:nvSpPr>
          <p:cNvPr id="13" name="Shape 11"/>
          <p:cNvSpPr/>
          <p:nvPr/>
        </p:nvSpPr>
        <p:spPr>
          <a:xfrm>
            <a:off x="6200775" y="1638895"/>
            <a:ext cx="2482850" cy="3341092"/>
          </a:xfrm>
          <a:prstGeom prst="roundRect">
            <a:avLst>
              <a:gd name="adj" fmla="val 3964"/>
            </a:avLst>
          </a:prstGeom>
          <a:solidFill>
            <a:srgbClr val="FCFCFB"/>
          </a:solidFill>
          <a:ln w="6350">
            <a:solidFill>
              <a:srgbClr val="DEE2DA"/>
            </a:solidFill>
            <a:prstDash val="solid"/>
          </a:ln>
        </p:spPr>
      </p:sp>
      <p:sp>
        <p:nvSpPr>
          <p:cNvPr id="14" name="Text 12"/>
          <p:cNvSpPr/>
          <p:nvPr/>
        </p:nvSpPr>
        <p:spPr>
          <a:xfrm>
            <a:off x="6432550" y="1870670"/>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Public Sans" pitchFamily="34" charset="0"/>
                <a:ea typeface="Public Sans" pitchFamily="34" charset="-122"/>
                <a:cs typeface="Public Sans" pitchFamily="34" charset="-120"/>
              </a:rPr>
              <a:t>3 · LOYALTY</a:t>
            </a:r>
            <a:endParaRPr lang="en-US" sz="1200" dirty="0"/>
          </a:p>
        </p:txBody>
      </p:sp>
      <p:sp>
        <p:nvSpPr>
          <p:cNvPr id="15" name="Text 13"/>
          <p:cNvSpPr/>
          <p:nvPr/>
        </p:nvSpPr>
        <p:spPr>
          <a:xfrm>
            <a:off x="6432550" y="2210991"/>
            <a:ext cx="2079879"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420"/>
                </a:solidFill>
                <a:latin typeface="Rubik" pitchFamily="34" charset="0"/>
                <a:ea typeface="Rubik" pitchFamily="34" charset="-122"/>
                <a:cs typeface="Rubik" pitchFamily="34" charset="-120"/>
              </a:rPr>
              <a:t>Who are the valuable customers?</a:t>
            </a:r>
            <a:endParaRPr lang="en-US" sz="1800" dirty="0"/>
          </a:p>
        </p:txBody>
      </p:sp>
      <p:sp>
        <p:nvSpPr>
          <p:cNvPr id="16" name="Text 14"/>
          <p:cNvSpPr/>
          <p:nvPr/>
        </p:nvSpPr>
        <p:spPr>
          <a:xfrm>
            <a:off x="6432550" y="3160861"/>
            <a:ext cx="20798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5B"/>
                </a:solidFill>
                <a:latin typeface="Public Sans" pitchFamily="34" charset="0"/>
                <a:ea typeface="Public Sans" pitchFamily="34" charset="-122"/>
                <a:cs typeface="Public Sans" pitchFamily="34" charset="-120"/>
              </a:rPr>
              <a:t>2,467 households, The Complete Journey (84.51°)</a:t>
            </a:r>
            <a:endParaRPr lang="en-US" sz="1200" dirty="0"/>
          </a:p>
        </p:txBody>
      </p:sp>
      <p:sp>
        <p:nvSpPr>
          <p:cNvPr id="17" name="Text 15"/>
          <p:cNvSpPr/>
          <p:nvPr/>
        </p:nvSpPr>
        <p:spPr>
          <a:xfrm>
            <a:off x="6432550" y="4285952"/>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2420"/>
                </a:solidFill>
                <a:latin typeface="Public Sans" pitchFamily="34" charset="0"/>
                <a:ea typeface="Public Sans" pitchFamily="34" charset="-122"/>
                <a:cs typeface="Public Sans" pitchFamily="34" charset="-120"/>
              </a:rPr>
              <a:t>21% of households bring 46% of spend</a:t>
            </a:r>
            <a:endParaRPr lang="en-US" sz="1400" dirty="0"/>
          </a:p>
        </p:txBody>
      </p:sp>
      <p:sp>
        <p:nvSpPr>
          <p:cNvPr id="18" name="Shape 16"/>
          <p:cNvSpPr/>
          <p:nvPr/>
        </p:nvSpPr>
        <p:spPr>
          <a:xfrm>
            <a:off x="8893175" y="1638895"/>
            <a:ext cx="2482850" cy="3341092"/>
          </a:xfrm>
          <a:prstGeom prst="roundRect">
            <a:avLst>
              <a:gd name="adj" fmla="val 3964"/>
            </a:avLst>
          </a:prstGeom>
          <a:solidFill>
            <a:srgbClr val="FCFCFB"/>
          </a:solidFill>
          <a:ln w="6350">
            <a:solidFill>
              <a:srgbClr val="DEE2DA"/>
            </a:solidFill>
            <a:prstDash val="solid"/>
          </a:ln>
        </p:spPr>
      </p:sp>
      <p:sp>
        <p:nvSpPr>
          <p:cNvPr id="19" name="Text 17"/>
          <p:cNvSpPr/>
          <p:nvPr/>
        </p:nvSpPr>
        <p:spPr>
          <a:xfrm>
            <a:off x="9124950" y="1870670"/>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Public Sans" pitchFamily="34" charset="0"/>
                <a:ea typeface="Public Sans" pitchFamily="34" charset="-122"/>
                <a:cs typeface="Public Sans" pitchFamily="34" charset="-120"/>
              </a:rPr>
              <a:t>4 · TEST</a:t>
            </a:r>
            <a:endParaRPr lang="en-US" sz="1200" dirty="0"/>
          </a:p>
        </p:txBody>
      </p:sp>
      <p:sp>
        <p:nvSpPr>
          <p:cNvPr id="20" name="Text 18"/>
          <p:cNvSpPr/>
          <p:nvPr/>
        </p:nvSpPr>
        <p:spPr>
          <a:xfrm>
            <a:off x="9124950" y="2210991"/>
            <a:ext cx="2079879" cy="57398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420"/>
                </a:solidFill>
                <a:latin typeface="Rubik" pitchFamily="34" charset="0"/>
                <a:ea typeface="Rubik" pitchFamily="34" charset="-122"/>
                <a:cs typeface="Rubik" pitchFamily="34" charset="-120"/>
              </a:rPr>
              <a:t>How would we test a fix?</a:t>
            </a:r>
            <a:endParaRPr lang="en-US" sz="1800" dirty="0"/>
          </a:p>
        </p:txBody>
      </p:sp>
      <p:sp>
        <p:nvSpPr>
          <p:cNvPr id="21" name="Text 19"/>
          <p:cNvSpPr/>
          <p:nvPr/>
        </p:nvSpPr>
        <p:spPr>
          <a:xfrm>
            <a:off x="9124950" y="2886571"/>
            <a:ext cx="20798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5B"/>
                </a:solidFill>
                <a:latin typeface="Public Sans" pitchFamily="34" charset="0"/>
                <a:ea typeface="Public Sans" pitchFamily="34" charset="-122"/>
                <a:cs typeface="Public Sans" pitchFamily="34" charset="-120"/>
              </a:rPr>
              <a:t>Real baselines from the funnel in Module 2</a:t>
            </a:r>
            <a:endParaRPr lang="en-US" sz="1200" dirty="0"/>
          </a:p>
        </p:txBody>
      </p:sp>
      <p:sp>
        <p:nvSpPr>
          <p:cNvPr id="22" name="Text 20"/>
          <p:cNvSpPr/>
          <p:nvPr/>
        </p:nvSpPr>
        <p:spPr>
          <a:xfrm>
            <a:off x="9124950" y="4285952"/>
            <a:ext cx="2079879"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2420"/>
                </a:solidFill>
                <a:latin typeface="Public Sans" pitchFamily="34" charset="0"/>
                <a:ea typeface="Public Sans" pitchFamily="34" charset="-122"/>
                <a:cs typeface="Public Sans" pitchFamily="34" charset="-120"/>
              </a:rPr>
              <a:t>A designed A/B test: 2,959 users per group</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The datasets cannot be joined. They are linked by the type of customer problem, not by the same customers.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Each app has a different top complaint</a:t>
            </a:r>
            <a:endParaRPr lang="en-US" sz="3200" dirty="0"/>
          </a:p>
        </p:txBody>
      </p:sp>
      <p:pic>
        <p:nvPicPr>
          <p:cNvPr id="3" name="Image 0" descr="Bar chart: share of negative reviews mentioning each journey stage, for Tesco, Dunnes Stores and SuperValu">    </p:cNvPr>
          <p:cNvPicPr>
            <a:picLocks noChangeAspect="1"/>
          </p:cNvPicPr>
          <p:nvPr/>
        </p:nvPicPr>
        <p:blipFill>
          <a:blip r:embed="rId1"/>
          <a:srcRect l="-16" r="-16" t="0" b="0"/>
          <a:stretch/>
        </p:blipFill>
        <p:spPr>
          <a:xfrm>
            <a:off x="812800" y="1534120"/>
            <a:ext cx="5543550" cy="4064000"/>
          </a:xfrm>
          <a:prstGeom prst="rect">
            <a:avLst/>
          </a:prstGeom>
        </p:spPr>
      </p:pic>
      <p:sp>
        <p:nvSpPr>
          <p:cNvPr id="4" name="Shape 1"/>
          <p:cNvSpPr/>
          <p:nvPr/>
        </p:nvSpPr>
        <p:spPr>
          <a:xfrm>
            <a:off x="6788150" y="1988145"/>
            <a:ext cx="0" cy="882650"/>
          </a:xfrm>
          <a:prstGeom prst="line">
            <a:avLst/>
          </a:prstGeom>
          <a:noFill/>
          <a:ln w="50800">
            <a:solidFill>
              <a:srgbClr val="1BAF7A"/>
            </a:solidFill>
            <a:prstDash val="solid"/>
          </a:ln>
        </p:spPr>
      </p:sp>
      <p:sp>
        <p:nvSpPr>
          <p:cNvPr id="5" name="Text 2"/>
          <p:cNvSpPr/>
          <p:nvPr/>
        </p:nvSpPr>
        <p:spPr>
          <a:xfrm>
            <a:off x="6991350" y="2013545"/>
            <a:ext cx="4519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20"/>
                </a:solidFill>
                <a:latin typeface="Public Sans" pitchFamily="34" charset="0"/>
                <a:ea typeface="Public Sans" pitchFamily="34" charset="-122"/>
                <a:cs typeface="Public Sans" pitchFamily="34" charset="-120"/>
              </a:rPr>
              <a:t>SuperValu</a:t>
            </a:r>
            <a:endParaRPr lang="en-US" sz="1500" dirty="0"/>
          </a:p>
        </p:txBody>
      </p:sp>
      <p:sp>
        <p:nvSpPr>
          <p:cNvPr id="6" name="Text 3"/>
          <p:cNvSpPr/>
          <p:nvPr/>
        </p:nvSpPr>
        <p:spPr>
          <a:xfrm>
            <a:off x="6991350" y="2331045"/>
            <a:ext cx="451948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742"/>
                </a:solidFill>
                <a:latin typeface="Public Sans" pitchFamily="34" charset="0"/>
                <a:ea typeface="Public Sans" pitchFamily="34" charset="-122"/>
                <a:cs typeface="Public Sans" pitchFamily="34" charset="-120"/>
              </a:rPr>
              <a:t>65% of negative reviews mention a slow or freezing app</a:t>
            </a:r>
            <a:endParaRPr lang="en-US" sz="1500" dirty="0"/>
          </a:p>
        </p:txBody>
      </p:sp>
      <p:sp>
        <p:nvSpPr>
          <p:cNvPr id="7" name="Shape 4"/>
          <p:cNvSpPr/>
          <p:nvPr/>
        </p:nvSpPr>
        <p:spPr>
          <a:xfrm>
            <a:off x="6788150" y="3124795"/>
            <a:ext cx="0" cy="882650"/>
          </a:xfrm>
          <a:prstGeom prst="line">
            <a:avLst/>
          </a:prstGeom>
          <a:noFill/>
          <a:ln w="50800">
            <a:solidFill>
              <a:srgbClr val="EB6834"/>
            </a:solidFill>
            <a:prstDash val="solid"/>
          </a:ln>
        </p:spPr>
      </p:sp>
      <p:sp>
        <p:nvSpPr>
          <p:cNvPr id="8" name="Text 5"/>
          <p:cNvSpPr/>
          <p:nvPr/>
        </p:nvSpPr>
        <p:spPr>
          <a:xfrm>
            <a:off x="6991350" y="3150195"/>
            <a:ext cx="4519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20"/>
                </a:solidFill>
                <a:latin typeface="Public Sans" pitchFamily="34" charset="0"/>
                <a:ea typeface="Public Sans" pitchFamily="34" charset="-122"/>
                <a:cs typeface="Public Sans" pitchFamily="34" charset="-120"/>
              </a:rPr>
              <a:t>Dunnes Stores</a:t>
            </a:r>
            <a:endParaRPr lang="en-US" sz="1500" dirty="0"/>
          </a:p>
        </p:txBody>
      </p:sp>
      <p:sp>
        <p:nvSpPr>
          <p:cNvPr id="9" name="Text 6"/>
          <p:cNvSpPr/>
          <p:nvPr/>
        </p:nvSpPr>
        <p:spPr>
          <a:xfrm>
            <a:off x="6991350" y="3467695"/>
            <a:ext cx="451948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742"/>
                </a:solidFill>
                <a:latin typeface="Public Sans" pitchFamily="34" charset="0"/>
                <a:ea typeface="Public Sans" pitchFamily="34" charset="-122"/>
                <a:cs typeface="Public Sans" pitchFamily="34" charset="-120"/>
              </a:rPr>
              <a:t>51% are about vouchers and prices, a pricing-policy issue</a:t>
            </a:r>
            <a:endParaRPr lang="en-US" sz="1500" dirty="0"/>
          </a:p>
        </p:txBody>
      </p:sp>
      <p:sp>
        <p:nvSpPr>
          <p:cNvPr id="10" name="Shape 7"/>
          <p:cNvSpPr/>
          <p:nvPr/>
        </p:nvSpPr>
        <p:spPr>
          <a:xfrm>
            <a:off x="6788150" y="4261445"/>
            <a:ext cx="0" cy="882650"/>
          </a:xfrm>
          <a:prstGeom prst="line">
            <a:avLst/>
          </a:prstGeom>
          <a:noFill/>
          <a:ln w="50800">
            <a:solidFill>
              <a:srgbClr val="2A78D6"/>
            </a:solidFill>
            <a:prstDash val="solid"/>
          </a:ln>
        </p:spPr>
      </p:sp>
      <p:sp>
        <p:nvSpPr>
          <p:cNvPr id="11" name="Text 8"/>
          <p:cNvSpPr/>
          <p:nvPr/>
        </p:nvSpPr>
        <p:spPr>
          <a:xfrm>
            <a:off x="6991350" y="4286845"/>
            <a:ext cx="4519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20"/>
                </a:solidFill>
                <a:latin typeface="Public Sans" pitchFamily="34" charset="0"/>
                <a:ea typeface="Public Sans" pitchFamily="34" charset="-122"/>
                <a:cs typeface="Public Sans" pitchFamily="34" charset="-120"/>
              </a:rPr>
              <a:t>Tesco Ireland</a:t>
            </a:r>
            <a:endParaRPr lang="en-US" sz="1500" dirty="0"/>
          </a:p>
        </p:txBody>
      </p:sp>
      <p:sp>
        <p:nvSpPr>
          <p:cNvPr id="12" name="Text 9"/>
          <p:cNvSpPr/>
          <p:nvPr/>
        </p:nvSpPr>
        <p:spPr>
          <a:xfrm>
            <a:off x="6991350" y="4604345"/>
            <a:ext cx="451948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742"/>
                </a:solidFill>
                <a:latin typeface="Public Sans" pitchFamily="34" charset="0"/>
                <a:ea typeface="Public Sans" pitchFamily="34" charset="-122"/>
                <a:cs typeface="Public Sans" pitchFamily="34" charset="-120"/>
              </a:rPr>
              <a:t>App speed 35%, loyalty 30%, login 26%, often at the till</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Source: Google Play + App Store reviews (Ireland), Oct 2024 to Oct 2026. Reviews are self-selected and skew negative.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5FA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7FB"/>
                </a:solidFill>
                <a:latin typeface="Rubik" pitchFamily="34" charset="0"/>
                <a:ea typeface="Rubik" pitchFamily="34" charset="-122"/>
                <a:cs typeface="Rubik" pitchFamily="34" charset="-120"/>
              </a:rPr>
              <a:t>Login problems get the lowest ratings of any stage</a:t>
            </a:r>
            <a:endParaRPr lang="en-US" sz="3200" dirty="0"/>
          </a:p>
        </p:txBody>
      </p:sp>
      <p:sp>
        <p:nvSpPr>
          <p:cNvPr id="3" name="Text 1"/>
          <p:cNvSpPr/>
          <p:nvPr/>
        </p:nvSpPr>
        <p:spPr>
          <a:xfrm>
            <a:off x="812800" y="2979738"/>
            <a:ext cx="3348736" cy="772120"/>
          </a:xfrm>
          <a:prstGeom prst="rect">
            <a:avLst/>
          </a:prstGeom>
          <a:noFill/>
          <a:ln/>
        </p:spPr>
        <p:txBody>
          <a:bodyPr wrap="square" lIns="0" tIns="0" rIns="0" bIns="0" rtlCol="0" anchor="t">
            <a:normAutofit/>
          </a:bodyPr>
          <a:lstStyle/>
          <a:p>
            <a:pPr algn="l" indent="0" marL="0">
              <a:lnSpc>
                <a:spcPts val="5880"/>
              </a:lnSpc>
              <a:buNone/>
            </a:pPr>
            <a:r>
              <a:rPr lang="en-US" sz="5600" dirty="0">
                <a:solidFill>
                  <a:srgbClr val="F4F7FB"/>
                </a:solidFill>
                <a:latin typeface="Rubik" pitchFamily="34" charset="0"/>
                <a:ea typeface="Rubik" pitchFamily="34" charset="-122"/>
                <a:cs typeface="Rubik" pitchFamily="34" charset="-120"/>
              </a:rPr>
              <a:t>1.65</a:t>
            </a:r>
            <a:endParaRPr lang="en-US" sz="5600" dirty="0"/>
          </a:p>
        </p:txBody>
      </p:sp>
      <p:sp>
        <p:nvSpPr>
          <p:cNvPr id="4" name="Text 2"/>
          <p:cNvSpPr/>
          <p:nvPr/>
        </p:nvSpPr>
        <p:spPr>
          <a:xfrm>
            <a:off x="812800" y="3828058"/>
            <a:ext cx="334873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3E2F5"/>
                </a:solidFill>
                <a:latin typeface="Public Sans" pitchFamily="34" charset="0"/>
                <a:ea typeface="Public Sans" pitchFamily="34" charset="-122"/>
                <a:cs typeface="Public Sans" pitchFamily="34" charset="-120"/>
              </a:rPr>
              <a:t>average stars when a review mentions login (all reviews: 3.67)</a:t>
            </a:r>
            <a:endParaRPr lang="en-US" sz="1500" dirty="0"/>
          </a:p>
        </p:txBody>
      </p:sp>
      <p:sp>
        <p:nvSpPr>
          <p:cNvPr id="5" name="Text 3"/>
          <p:cNvSpPr/>
          <p:nvPr/>
        </p:nvSpPr>
        <p:spPr>
          <a:xfrm>
            <a:off x="4470400" y="2979738"/>
            <a:ext cx="3348736" cy="772120"/>
          </a:xfrm>
          <a:prstGeom prst="rect">
            <a:avLst/>
          </a:prstGeom>
          <a:noFill/>
          <a:ln/>
        </p:spPr>
        <p:txBody>
          <a:bodyPr wrap="square" lIns="0" tIns="0" rIns="0" bIns="0" rtlCol="0" anchor="t">
            <a:normAutofit/>
          </a:bodyPr>
          <a:lstStyle/>
          <a:p>
            <a:pPr algn="l" indent="0" marL="0">
              <a:lnSpc>
                <a:spcPts val="5880"/>
              </a:lnSpc>
              <a:buNone/>
            </a:pPr>
            <a:r>
              <a:rPr lang="en-US" sz="5600" dirty="0">
                <a:solidFill>
                  <a:srgbClr val="F4F7FB"/>
                </a:solidFill>
                <a:latin typeface="Rubik" pitchFamily="34" charset="0"/>
                <a:ea typeface="Rubik" pitchFamily="34" charset="-122"/>
                <a:cs typeface="Rubik" pitchFamily="34" charset="-120"/>
              </a:rPr>
              <a:t>34%</a:t>
            </a:r>
            <a:endParaRPr lang="en-US" sz="5600" dirty="0"/>
          </a:p>
        </p:txBody>
      </p:sp>
      <p:sp>
        <p:nvSpPr>
          <p:cNvPr id="6" name="Text 4"/>
          <p:cNvSpPr/>
          <p:nvPr/>
        </p:nvSpPr>
        <p:spPr>
          <a:xfrm>
            <a:off x="4470400" y="3828058"/>
            <a:ext cx="334873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3E2F5"/>
                </a:solidFill>
                <a:latin typeface="Public Sans" pitchFamily="34" charset="0"/>
                <a:ea typeface="Public Sans" pitchFamily="34" charset="-122"/>
                <a:cs typeface="Public Sans" pitchFamily="34" charset="-120"/>
              </a:rPr>
              <a:t>of negative reviews mention app speed or crashes, the most common stage</a:t>
            </a:r>
            <a:endParaRPr lang="en-US" sz="1500" dirty="0"/>
          </a:p>
        </p:txBody>
      </p:sp>
      <p:sp>
        <p:nvSpPr>
          <p:cNvPr id="7" name="Text 5"/>
          <p:cNvSpPr/>
          <p:nvPr/>
        </p:nvSpPr>
        <p:spPr>
          <a:xfrm>
            <a:off x="8128000" y="2979738"/>
            <a:ext cx="3348736" cy="772120"/>
          </a:xfrm>
          <a:prstGeom prst="rect">
            <a:avLst/>
          </a:prstGeom>
          <a:noFill/>
          <a:ln/>
        </p:spPr>
        <p:txBody>
          <a:bodyPr wrap="square" lIns="0" tIns="0" rIns="0" bIns="0" rtlCol="0" anchor="t">
            <a:normAutofit/>
          </a:bodyPr>
          <a:lstStyle/>
          <a:p>
            <a:pPr algn="l" indent="0" marL="0">
              <a:lnSpc>
                <a:spcPts val="5880"/>
              </a:lnSpc>
              <a:buNone/>
            </a:pPr>
            <a:r>
              <a:rPr lang="en-US" sz="5600" dirty="0">
                <a:solidFill>
                  <a:srgbClr val="F4F7FB"/>
                </a:solidFill>
                <a:latin typeface="Rubik" pitchFamily="34" charset="0"/>
                <a:ea typeface="Rubik" pitchFamily="34" charset="-122"/>
                <a:cs typeface="Rubik" pitchFamily="34" charset="-120"/>
              </a:rPr>
              <a:t>0.86</a:t>
            </a:r>
            <a:endParaRPr lang="en-US" sz="5600" dirty="0"/>
          </a:p>
        </p:txBody>
      </p:sp>
      <p:sp>
        <p:nvSpPr>
          <p:cNvPr id="8" name="Text 6"/>
          <p:cNvSpPr/>
          <p:nvPr/>
        </p:nvSpPr>
        <p:spPr>
          <a:xfrm>
            <a:off x="8128000" y="3828058"/>
            <a:ext cx="334873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3E2F5"/>
                </a:solidFill>
                <a:latin typeface="Public Sans" pitchFamily="34" charset="0"/>
                <a:ea typeface="Public Sans" pitchFamily="34" charset="-122"/>
                <a:cs typeface="Public Sans" pitchFamily="34" charset="-120"/>
              </a:rPr>
              <a:t>precision of the keyword rules on 100 hand-labelled test reviews (recall 0.74)</a:t>
            </a:r>
            <a:endParaRPr lang="en-US" sz="1500" dirty="0"/>
          </a:p>
        </p:txBody>
      </p:sp>
      <p:sp>
        <p:nvSpPr>
          <p:cNvPr id="9" name="Text 7"/>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EE"/>
                </a:solidFill>
                <a:latin typeface="Public Sans" pitchFamily="34" charset="0"/>
                <a:ea typeface="Public Sans" pitchFamily="34" charset="-122"/>
                <a:cs typeface="Public Sans" pitchFamily="34" charset="-120"/>
              </a:rPr>
              <a:t>Rules were improved on a separate dev sample, so the test score is not inflated.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Most shoppers leave before the cart</a:t>
            </a:r>
            <a:endParaRPr lang="en-US" sz="3200" dirty="0"/>
          </a:p>
        </p:txBody>
      </p:sp>
      <p:pic>
        <p:nvPicPr>
          <p:cNvPr id="3" name="Image 0" descr="Funnel chart from view item to purchase; only 20% of viewing sessions add to cart">    </p:cNvPr>
          <p:cNvPicPr>
            <a:picLocks noChangeAspect="1"/>
          </p:cNvPicPr>
          <p:nvPr/>
        </p:nvPicPr>
        <p:blipFill>
          <a:blip r:embed="rId1"/>
          <a:srcRect l="0" r="0" t="-21" b="-21"/>
          <a:stretch/>
        </p:blipFill>
        <p:spPr>
          <a:xfrm>
            <a:off x="812800" y="1584920"/>
            <a:ext cx="6731000" cy="3441700"/>
          </a:xfrm>
          <a:prstGeom prst="rect">
            <a:avLst/>
          </a:prstGeom>
        </p:spPr>
      </p:pic>
      <p:sp>
        <p:nvSpPr>
          <p:cNvPr id="4" name="Text 1"/>
          <p:cNvSpPr/>
          <p:nvPr/>
        </p:nvSpPr>
        <p:spPr>
          <a:xfrm>
            <a:off x="7950200" y="1631950"/>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1.35%</a:t>
            </a:r>
            <a:endParaRPr lang="en-US" sz="3200" dirty="0"/>
          </a:p>
        </p:txBody>
      </p:sp>
      <p:sp>
        <p:nvSpPr>
          <p:cNvPr id="5" name="Text 2"/>
          <p:cNvSpPr/>
          <p:nvPr/>
        </p:nvSpPr>
        <p:spPr>
          <a:xfrm>
            <a:off x="7950200" y="2104380"/>
            <a:ext cx="35318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5B"/>
                </a:solidFill>
                <a:latin typeface="Public Sans" pitchFamily="34" charset="0"/>
                <a:ea typeface="Public Sans" pitchFamily="34" charset="-122"/>
                <a:cs typeface="Public Sans" pitchFamily="34" charset="-120"/>
              </a:rPr>
              <a:t>of sessions buy</a:t>
            </a:r>
            <a:endParaRPr lang="en-US" sz="1300" dirty="0"/>
          </a:p>
        </p:txBody>
      </p:sp>
      <p:sp>
        <p:nvSpPr>
          <p:cNvPr id="6" name="Text 3"/>
          <p:cNvSpPr/>
          <p:nvPr/>
        </p:nvSpPr>
        <p:spPr>
          <a:xfrm>
            <a:off x="7950200" y="2513310"/>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81.3%</a:t>
            </a:r>
            <a:endParaRPr lang="en-US" sz="3200" dirty="0"/>
          </a:p>
        </p:txBody>
      </p:sp>
      <p:sp>
        <p:nvSpPr>
          <p:cNvPr id="7" name="Text 4"/>
          <p:cNvSpPr/>
          <p:nvPr/>
        </p:nvSpPr>
        <p:spPr>
          <a:xfrm>
            <a:off x="7950200" y="2985740"/>
            <a:ext cx="35318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5B"/>
                </a:solidFill>
                <a:latin typeface="Public Sans" pitchFamily="34" charset="0"/>
                <a:ea typeface="Public Sans" pitchFamily="34" charset="-122"/>
                <a:cs typeface="Public Sans" pitchFamily="34" charset="-120"/>
              </a:rPr>
              <a:t>cart abandonment</a:t>
            </a:r>
            <a:endParaRPr lang="en-US" sz="1300" dirty="0"/>
          </a:p>
        </p:txBody>
      </p:sp>
      <p:sp>
        <p:nvSpPr>
          <p:cNvPr id="8" name="Text 5"/>
          <p:cNvSpPr/>
          <p:nvPr/>
        </p:nvSpPr>
        <p:spPr>
          <a:xfrm>
            <a:off x="7950200" y="3394670"/>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28.9%</a:t>
            </a:r>
            <a:endParaRPr lang="en-US" sz="3200" dirty="0"/>
          </a:p>
        </p:txBody>
      </p:sp>
      <p:sp>
        <p:nvSpPr>
          <p:cNvPr id="9" name="Text 6"/>
          <p:cNvSpPr/>
          <p:nvPr/>
        </p:nvSpPr>
        <p:spPr>
          <a:xfrm>
            <a:off x="7950200" y="3867100"/>
            <a:ext cx="35318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5B"/>
                </a:solidFill>
                <a:latin typeface="Public Sans" pitchFamily="34" charset="0"/>
                <a:ea typeface="Public Sans" pitchFamily="34" charset="-122"/>
                <a:cs typeface="Public Sans" pitchFamily="34" charset="-120"/>
              </a:rPr>
              <a:t>drop between payment info and purchase</a:t>
            </a:r>
            <a:endParaRPr lang="en-US" sz="1300" dirty="0"/>
          </a:p>
        </p:txBody>
      </p:sp>
      <p:sp>
        <p:nvSpPr>
          <p:cNvPr id="10" name="Text 7"/>
          <p:cNvSpPr/>
          <p:nvPr/>
        </p:nvSpPr>
        <p:spPr>
          <a:xfrm>
            <a:off x="7950200" y="4276030"/>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$68.97</a:t>
            </a:r>
            <a:endParaRPr lang="en-US" sz="3200" dirty="0"/>
          </a:p>
        </p:txBody>
      </p:sp>
      <p:sp>
        <p:nvSpPr>
          <p:cNvPr id="11" name="Text 8"/>
          <p:cNvSpPr/>
          <p:nvPr/>
        </p:nvSpPr>
        <p:spPr>
          <a:xfrm>
            <a:off x="7950200" y="4748461"/>
            <a:ext cx="35318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05B"/>
                </a:solidFill>
                <a:latin typeface="Public Sans" pitchFamily="34" charset="0"/>
                <a:ea typeface="Public Sans" pitchFamily="34" charset="-122"/>
                <a:cs typeface="Public Sans" pitchFamily="34" charset="-120"/>
              </a:rPr>
              <a:t>average order value</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Source: GA4 public sample in BigQuery (Google Merchandise Store, real e-commerce, not grocery), Nov 2020 to Jan 2021.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New users are the weak segment, not mobile</a:t>
            </a:r>
            <a:endParaRPr lang="en-US" sz="3200" dirty="0"/>
          </a:p>
        </p:txBody>
      </p:sp>
      <p:pic>
        <p:nvPicPr>
          <p:cNvPr id="3" name="Image 0" descr="Dot chart of conversion rate by device, new versus returning, and traffic source, with 95% confidence intervals">    </p:cNvPr>
          <p:cNvPicPr>
            <a:picLocks noChangeAspect="1"/>
          </p:cNvPicPr>
          <p:nvPr/>
        </p:nvPicPr>
        <p:blipFill>
          <a:blip r:embed="rId1"/>
          <a:srcRect l="-30" r="-30" t="0" b="0"/>
          <a:stretch/>
        </p:blipFill>
        <p:spPr>
          <a:xfrm>
            <a:off x="812800" y="1584920"/>
            <a:ext cx="6731000" cy="3587750"/>
          </a:xfrm>
          <a:prstGeom prst="rect">
            <a:avLst/>
          </a:prstGeom>
        </p:spPr>
      </p:pic>
      <p:sp>
        <p:nvSpPr>
          <p:cNvPr id="4" name="Text 1"/>
          <p:cNvSpPr/>
          <p:nvPr/>
        </p:nvSpPr>
        <p:spPr>
          <a:xfrm>
            <a:off x="7950200" y="1772989"/>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4.6×</a:t>
            </a:r>
            <a:endParaRPr lang="en-US" sz="3200" dirty="0"/>
          </a:p>
        </p:txBody>
      </p:sp>
      <p:sp>
        <p:nvSpPr>
          <p:cNvPr id="5" name="Text 2"/>
          <p:cNvSpPr/>
          <p:nvPr/>
        </p:nvSpPr>
        <p:spPr>
          <a:xfrm>
            <a:off x="7950200" y="2245420"/>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Returning sessions convert at 3.10%, new ones at 0.68%</a:t>
            </a:r>
            <a:endParaRPr lang="en-US" sz="1300" dirty="0"/>
          </a:p>
        </p:txBody>
      </p:sp>
      <p:sp>
        <p:nvSpPr>
          <p:cNvPr id="6" name="Text 3"/>
          <p:cNvSpPr/>
          <p:nvPr/>
        </p:nvSpPr>
        <p:spPr>
          <a:xfrm>
            <a:off x="7950200" y="2919710"/>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48%</a:t>
            </a:r>
            <a:endParaRPr lang="en-US" sz="3200" dirty="0"/>
          </a:p>
        </p:txBody>
      </p:sp>
      <p:sp>
        <p:nvSpPr>
          <p:cNvPr id="7" name="Text 4"/>
          <p:cNvSpPr/>
          <p:nvPr/>
        </p:nvSpPr>
        <p:spPr>
          <a:xfrm>
            <a:off x="7950200" y="3392140"/>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of new users go from checkout to payment (returning: 83%)</a:t>
            </a:r>
            <a:endParaRPr lang="en-US" sz="1300" dirty="0"/>
          </a:p>
        </p:txBody>
      </p:sp>
      <p:sp>
        <p:nvSpPr>
          <p:cNvPr id="8" name="Text 5"/>
          <p:cNvSpPr/>
          <p:nvPr/>
        </p:nvSpPr>
        <p:spPr>
          <a:xfrm>
            <a:off x="7950200" y="4066431"/>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5FAE"/>
                </a:solidFill>
                <a:latin typeface="Rubik" pitchFamily="34" charset="0"/>
                <a:ea typeface="Rubik" pitchFamily="34" charset="-122"/>
                <a:cs typeface="Rubik" pitchFamily="34" charset="-120"/>
              </a:rPr>
              <a:t>≈ same</a:t>
            </a:r>
            <a:endParaRPr lang="en-US" sz="3200" dirty="0"/>
          </a:p>
        </p:txBody>
      </p:sp>
      <p:sp>
        <p:nvSpPr>
          <p:cNvPr id="9" name="Text 6"/>
          <p:cNvSpPr/>
          <p:nvPr/>
        </p:nvSpPr>
        <p:spPr>
          <a:xfrm>
            <a:off x="7950200" y="4538861"/>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conversion on desktop, mobile and tablet (1.30–1.39%, p = 0.14)</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Source: GA4 public sample (Google Merchandise Store), 360,129 sessions. Chi-square tests and Wilson 95% intervals.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A fifth of households bring almost half of spend</a:t>
            </a:r>
            <a:endParaRPr lang="en-US" sz="3200" dirty="0"/>
          </a:p>
        </p:txBody>
      </p:sp>
      <p:pic>
        <p:nvPicPr>
          <p:cNvPr id="3" name="Image 0" descr="Bar chart of RFM segments: share of households versus share of spend">    </p:cNvPr>
          <p:cNvPicPr>
            <a:picLocks noChangeAspect="1"/>
          </p:cNvPicPr>
          <p:nvPr/>
        </p:nvPicPr>
        <p:blipFill>
          <a:blip r:embed="rId1"/>
          <a:srcRect l="-30" r="-30" t="0" b="0"/>
          <a:stretch/>
        </p:blipFill>
        <p:spPr>
          <a:xfrm>
            <a:off x="812800" y="1584920"/>
            <a:ext cx="6731000" cy="3587750"/>
          </a:xfrm>
          <a:prstGeom prst="rect">
            <a:avLst/>
          </a:prstGeom>
        </p:spPr>
      </p:pic>
      <p:sp>
        <p:nvSpPr>
          <p:cNvPr id="4" name="Text 1"/>
          <p:cNvSpPr/>
          <p:nvPr/>
        </p:nvSpPr>
        <p:spPr>
          <a:xfrm>
            <a:off x="7950200" y="1884412"/>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21% → 46%</a:t>
            </a:r>
            <a:endParaRPr lang="en-US" sz="3200" dirty="0"/>
          </a:p>
        </p:txBody>
      </p:sp>
      <p:sp>
        <p:nvSpPr>
          <p:cNvPr id="5" name="Text 2"/>
          <p:cNvSpPr/>
          <p:nvPr/>
        </p:nvSpPr>
        <p:spPr>
          <a:xfrm>
            <a:off x="7950200" y="2356842"/>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Champions: share of households → share of spend</a:t>
            </a:r>
            <a:endParaRPr lang="en-US" sz="1300" dirty="0"/>
          </a:p>
        </p:txBody>
      </p:sp>
      <p:sp>
        <p:nvSpPr>
          <p:cNvPr id="6" name="Text 3"/>
          <p:cNvSpPr/>
          <p:nvPr/>
        </p:nvSpPr>
        <p:spPr>
          <a:xfrm>
            <a:off x="7950200" y="3031133"/>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40% → 71%</a:t>
            </a:r>
            <a:endParaRPr lang="en-US" sz="3200" dirty="0"/>
          </a:p>
        </p:txBody>
      </p:sp>
      <p:sp>
        <p:nvSpPr>
          <p:cNvPr id="7" name="Text 4"/>
          <p:cNvSpPr/>
          <p:nvPr/>
        </p:nvSpPr>
        <p:spPr>
          <a:xfrm>
            <a:off x="7950200" y="3503563"/>
            <a:ext cx="353187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Champions and Loyal together</a:t>
            </a:r>
            <a:endParaRPr lang="en-US" sz="1300" dirty="0"/>
          </a:p>
        </p:txBody>
      </p:sp>
      <p:sp>
        <p:nvSpPr>
          <p:cNvPr id="8" name="Text 5"/>
          <p:cNvSpPr/>
          <p:nvPr/>
        </p:nvSpPr>
        <p:spPr>
          <a:xfrm>
            <a:off x="7950200" y="3955008"/>
            <a:ext cx="353187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$66.51</a:t>
            </a:r>
            <a:endParaRPr lang="en-US" sz="3200" dirty="0"/>
          </a:p>
        </p:txBody>
      </p:sp>
      <p:sp>
        <p:nvSpPr>
          <p:cNvPr id="9" name="Text 6"/>
          <p:cNvSpPr/>
          <p:nvPr/>
        </p:nvSpPr>
        <p:spPr>
          <a:xfrm>
            <a:off x="7950200" y="4427438"/>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basket value of Big spenders, who shop less often</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Source: The Complete Journey (84.51° release), 2,467 households, 2017. Anonymised US grocer, not Tesco.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Broad campaigns did not measurably lift spend</a:t>
            </a:r>
            <a:endParaRPr lang="en-US" sz="3200" dirty="0"/>
          </a:p>
        </p:txBody>
      </p:sp>
      <p:pic>
        <p:nvPicPr>
          <p:cNvPr id="3" name="Image 0" descr="Event study panels for campaigns 8, 13 and 18: estimates before and during each campaign stay close to zero">    </p:cNvPr>
          <p:cNvPicPr>
            <a:picLocks noChangeAspect="1"/>
          </p:cNvPicPr>
          <p:nvPr/>
        </p:nvPicPr>
        <p:blipFill>
          <a:blip r:embed="rId1"/>
          <a:srcRect l="-54" r="-54" t="0" b="0"/>
          <a:stretch/>
        </p:blipFill>
        <p:spPr>
          <a:xfrm>
            <a:off x="812800" y="1534120"/>
            <a:ext cx="6223000" cy="3937000"/>
          </a:xfrm>
          <a:prstGeom prst="rect">
            <a:avLst/>
          </a:prstGeom>
        </p:spPr>
      </p:pic>
      <p:sp>
        <p:nvSpPr>
          <p:cNvPr id="4" name="Text 1"/>
          <p:cNvSpPr/>
          <p:nvPr/>
        </p:nvSpPr>
        <p:spPr>
          <a:xfrm>
            <a:off x="7442200" y="1896814"/>
            <a:ext cx="405511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0 of 6</a:t>
            </a:r>
            <a:endParaRPr lang="en-US" sz="3200" dirty="0"/>
          </a:p>
        </p:txBody>
      </p:sp>
      <p:sp>
        <p:nvSpPr>
          <p:cNvPr id="5" name="Text 2"/>
          <p:cNvSpPr/>
          <p:nvPr/>
        </p:nvSpPr>
        <p:spPr>
          <a:xfrm>
            <a:off x="7442200" y="2369245"/>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estimates were significant (3 campaigns × 2 spend measures)</a:t>
            </a:r>
            <a:endParaRPr lang="en-US" sz="1300" dirty="0"/>
          </a:p>
        </p:txBody>
      </p:sp>
      <p:sp>
        <p:nvSpPr>
          <p:cNvPr id="6" name="Text 3"/>
          <p:cNvSpPr/>
          <p:nvPr/>
        </p:nvSpPr>
        <p:spPr>
          <a:xfrm>
            <a:off x="7442200" y="3043535"/>
            <a:ext cx="405511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+$0.95</a:t>
            </a:r>
            <a:endParaRPr lang="en-US" sz="3200" dirty="0"/>
          </a:p>
        </p:txBody>
      </p:sp>
      <p:sp>
        <p:nvSpPr>
          <p:cNvPr id="7" name="Text 4"/>
          <p:cNvSpPr/>
          <p:nvPr/>
        </p:nvSpPr>
        <p:spPr>
          <a:xfrm>
            <a:off x="7442200" y="3515965"/>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best case, per household per week (95% CI −0.78 to 2.69)</a:t>
            </a:r>
            <a:endParaRPr lang="en-US" sz="1300" dirty="0"/>
          </a:p>
        </p:txBody>
      </p:sp>
      <p:sp>
        <p:nvSpPr>
          <p:cNvPr id="8" name="Text 5"/>
          <p:cNvSpPr/>
          <p:nvPr/>
        </p:nvSpPr>
        <p:spPr>
          <a:xfrm>
            <a:off x="7442200" y="4190256"/>
            <a:ext cx="405511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3×</a:t>
            </a:r>
            <a:endParaRPr lang="en-US" sz="3200" dirty="0"/>
          </a:p>
        </p:txBody>
      </p:sp>
      <p:sp>
        <p:nvSpPr>
          <p:cNvPr id="9" name="Text 6"/>
          <p:cNvSpPr/>
          <p:nvPr/>
        </p:nvSpPr>
        <p:spPr>
          <a:xfrm>
            <a:off x="7442200" y="4662686"/>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targeted households already spent this much more before the campaigns</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Difference-in-differences, household + week fixed effects, clustered SEs. Not randomised. The Complete Journey (84.51°), not Tesco.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Coupon users are not less loyal</a:t>
            </a:r>
            <a:endParaRPr lang="en-US" sz="3200" dirty="0"/>
          </a:p>
        </p:txBody>
      </p:sp>
      <p:pic>
        <p:nvPicPr>
          <p:cNvPr id="3" name="Image 0" descr="Bar charts: share of active weeks and lapse rate by coupon-use group">    </p:cNvPr>
          <p:cNvPicPr>
            <a:picLocks noChangeAspect="1"/>
          </p:cNvPicPr>
          <p:nvPr/>
        </p:nvPicPr>
        <p:blipFill>
          <a:blip r:embed="rId1"/>
          <a:srcRect l="0" r="0" t="0" b="0"/>
          <a:stretch/>
        </p:blipFill>
        <p:spPr>
          <a:xfrm>
            <a:off x="812800" y="1584920"/>
            <a:ext cx="6985000" cy="2933700"/>
          </a:xfrm>
          <a:prstGeom prst="rect">
            <a:avLst/>
          </a:prstGeom>
        </p:spPr>
      </p:pic>
      <p:sp>
        <p:nvSpPr>
          <p:cNvPr id="4" name="Text 1"/>
          <p:cNvSpPr/>
          <p:nvPr/>
        </p:nvSpPr>
        <p:spPr>
          <a:xfrm>
            <a:off x="8204200" y="2130772"/>
            <a:ext cx="327025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9% vs 1–2%</a:t>
            </a:r>
            <a:endParaRPr lang="en-US" sz="3200" dirty="0"/>
          </a:p>
        </p:txBody>
      </p:sp>
      <p:sp>
        <p:nvSpPr>
          <p:cNvPr id="5" name="Text 2"/>
          <p:cNvSpPr/>
          <p:nvPr/>
        </p:nvSpPr>
        <p:spPr>
          <a:xfrm>
            <a:off x="8204200" y="2603202"/>
            <a:ext cx="327025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lapse rate: non-users vs coupon users</a:t>
            </a:r>
            <a:endParaRPr lang="en-US" sz="1300" dirty="0"/>
          </a:p>
        </p:txBody>
      </p:sp>
      <p:sp>
        <p:nvSpPr>
          <p:cNvPr id="6" name="Text 3"/>
          <p:cNvSpPr/>
          <p:nvPr/>
        </p:nvSpPr>
        <p:spPr>
          <a:xfrm>
            <a:off x="8204200" y="3054648"/>
            <a:ext cx="3270250"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C2501F"/>
                </a:solidFill>
                <a:latin typeface="Rubik" pitchFamily="34" charset="0"/>
                <a:ea typeface="Rubik" pitchFamily="34" charset="-122"/>
                <a:cs typeface="Rubik" pitchFamily="34" charset="-120"/>
              </a:rPr>
              <a:t>0.78</a:t>
            </a:r>
            <a:endParaRPr lang="en-US" sz="3200" dirty="0"/>
          </a:p>
        </p:txBody>
      </p:sp>
      <p:sp>
        <p:nvSpPr>
          <p:cNvPr id="7" name="Text 4"/>
          <p:cNvSpPr/>
          <p:nvPr/>
        </p:nvSpPr>
        <p:spPr>
          <a:xfrm>
            <a:off x="8204200" y="3527078"/>
            <a:ext cx="32702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742"/>
                </a:solidFill>
                <a:latin typeface="Public Sans" pitchFamily="34" charset="0"/>
                <a:ea typeface="Public Sans" pitchFamily="34" charset="-122"/>
                <a:cs typeface="Public Sans" pitchFamily="34" charset="-120"/>
              </a:rPr>
              <a:t>odds of lapsing for each +10 points of coupon use, after controls</a:t>
            </a:r>
            <a:endParaRPr lang="en-US" sz="1300" dirty="0"/>
          </a:p>
        </p:txBody>
      </p:sp>
      <p:sp>
        <p:nvSpPr>
          <p:cNvPr id="8" name="Text 5"/>
          <p:cNvSpPr/>
          <p:nvPr/>
        </p:nvSpPr>
        <p:spPr>
          <a:xfrm>
            <a:off x="812800" y="4823420"/>
            <a:ext cx="10566400" cy="835620"/>
          </a:xfrm>
          <a:prstGeom prst="roundRect">
            <a:avLst>
              <a:gd name="adj" fmla="val 9119"/>
            </a:avLst>
          </a:prstGeom>
          <a:solidFill>
            <a:srgbClr val="F3F4EF"/>
          </a:solidFill>
          <a:ln/>
        </p:spPr>
        <p:txBody>
          <a:bodyPr wrap="square" lIns="206282" tIns="142782" rIns="0" bIns="142782" rtlCol="0" anchor="ctr">
            <a:normAutofit/>
          </a:bodyPr>
          <a:lstStyle/>
          <a:p>
            <a:pPr algn="l" indent="0" marL="0">
              <a:lnSpc>
                <a:spcPts val="1890"/>
              </a:lnSpc>
              <a:buNone/>
            </a:pPr>
            <a:r>
              <a:rPr lang="en-US" sz="1400" b="1" dirty="0">
                <a:solidFill>
                  <a:srgbClr val="1B2420"/>
                </a:solidFill>
                <a:latin typeface="Public Sans" pitchFamily="34" charset="0"/>
                <a:ea typeface="Public Sans" pitchFamily="34" charset="-122"/>
                <a:cs typeface="Public Sans" pitchFamily="34" charset="-120"/>
              </a:rPr>
              <a:t>The data changed my mind.</a:t>
            </a:r>
            <a:r>
              <a:rPr lang="en-US" sz="1400" dirty="0">
                <a:solidFill>
                  <a:srgbClr val="1B2420"/>
                </a:solidFill>
                <a:latin typeface="Public Sans" pitchFamily="34" charset="0"/>
                <a:ea typeface="Public Sans" pitchFamily="34" charset="-122"/>
                <a:cs typeface="Public Sans" pitchFamily="34" charset="-120"/>
              </a:rPr>
              <a:t> My earlier project, on simulated data, found coupon users less loyal. On real data, that only looks true until you control for how often people shop.</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Coupon use measured Jan–Jun 2017, loyalty Jul–Dec 2017. 2,388 households. The Complete Journey (84.51°). Association, not cause.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A designed test: one-tap wallet payment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5702300" cy="2874566"/>
        </p:xfrm>
        <a:graphic>
          <a:graphicData uri="http://schemas.openxmlformats.org/drawingml/2006/table">
            <a:tbl>
              <a:tblPr/>
              <a:tblGrid>
                <a:gridCol w="1824736"/>
                <a:gridCol w="3877564"/>
              </a:tblGrid>
              <a:tr h="359321">
                <a:tc>
                  <a:txBody>
                    <a:bodyPr/>
                    <a:lstStyle/>
                    <a:p>
                      <a:pPr indent="0" marL="0">
                        <a:lnSpc>
                          <a:spcPts val="1820"/>
                        </a:lnSpc>
                        <a:buNone/>
                      </a:pPr>
                      <a:r>
                        <a:rPr lang="en-US" sz="1300" b="1" dirty="0">
                          <a:solidFill>
                            <a:srgbClr val="1B2420"/>
                          </a:solidFill>
                          <a:latin typeface="Public Sans" pitchFamily="34" charset="0"/>
                          <a:ea typeface="Public Sans" pitchFamily="34" charset="-122"/>
                          <a:cs typeface="Public Sans" pitchFamily="34" charset="-120"/>
                        </a:rPr>
                        <a:t>Item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7EEF8"/>
                    </a:solidFill>
                  </a:tcPr>
                </a:tc>
                <a:tc>
                  <a:txBody>
                    <a:bodyPr/>
                    <a:lstStyle/>
                    <a:p>
                      <a:pPr indent="0" marL="0">
                        <a:lnSpc>
                          <a:spcPts val="1820"/>
                        </a:lnSpc>
                        <a:buNone/>
                      </a:pPr>
                      <a:r>
                        <a:rPr lang="en-US" sz="1300" b="1" dirty="0">
                          <a:solidFill>
                            <a:srgbClr val="1B2420"/>
                          </a:solidFill>
                          <a:latin typeface="Public Sans" pitchFamily="34" charset="0"/>
                          <a:ea typeface="Public Sans" pitchFamily="34" charset="-122"/>
                          <a:cs typeface="Public Sans" pitchFamily="34" charset="-120"/>
                        </a:rPr>
                        <a:t>Plan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7EEF8"/>
                    </a:solidFill>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Change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Apple Pay / Google Pay on the payment page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Why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11% of negative reviews; 29% drop at payment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Primary metric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Payment step → purchase (baseline 76.8%)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Unit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User, 50/50, analysed once they reach payment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Effect to detect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+3 points, alpha 0.05, power 80%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Sample size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2,959 users per group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Guardrails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AOV, overall conversion, payment errors, speed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pic>
        <p:nvPicPr>
          <p:cNvPr id="4" name="Image 0" descr="Power curves: about 2,959 users per group give 80% power for a 3-point lift">    </p:cNvPr>
          <p:cNvPicPr>
            <a:picLocks noChangeAspect="1"/>
          </p:cNvPicPr>
          <p:nvPr/>
        </p:nvPicPr>
        <p:blipFill>
          <a:blip r:embed="rId1"/>
          <a:srcRect l="0" r="0" t="-69" b="-69"/>
          <a:stretch/>
        </p:blipFill>
        <p:spPr>
          <a:xfrm>
            <a:off x="6883400" y="1863328"/>
            <a:ext cx="4495800" cy="2330450"/>
          </a:xfrm>
          <a:prstGeom prst="rect">
            <a:avLst/>
          </a:prstGeom>
        </p:spPr>
      </p:pic>
      <p:sp>
        <p:nvSpPr>
          <p:cNvPr id="5"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Designed, not run. Baseline from the GA4 public sample. Power calculation with statsmodels (Cohen’s 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20"/>
                </a:solidFill>
                <a:latin typeface="Rubik" pitchFamily="34" charset="0"/>
                <a:ea typeface="Rubik" pitchFamily="34" charset="-122"/>
                <a:cs typeface="Rubik" pitchFamily="34" charset="-120"/>
              </a:rPr>
              <a:t>What I would do next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515245"/>
        </p:xfrm>
        <a:graphic>
          <a:graphicData uri="http://schemas.openxmlformats.org/drawingml/2006/table">
            <a:tbl>
              <a:tblPr/>
              <a:tblGrid>
                <a:gridCol w="633222"/>
                <a:gridCol w="4221480"/>
                <a:gridCol w="5698998"/>
              </a:tblGrid>
              <a:tr h="359321">
                <a:tc>
                  <a:txBody>
                    <a:bodyPr/>
                    <a:lstStyle/>
                    <a:p>
                      <a:pPr indent="0" marL="0">
                        <a:lnSpc>
                          <a:spcPts val="1820"/>
                        </a:lnSpc>
                        <a:buNone/>
                      </a:pPr>
                      <a:r>
                        <a:rPr lang="en-US" sz="1300" b="1" dirty="0">
                          <a:solidFill>
                            <a:srgbClr val="F2F4EF"/>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162A2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62A25"/>
                      </a:solidFill>
                      <a:prstDash val="solid"/>
                      <a:round/>
                      <a:headEnd type="none" w="med" len="med"/>
                      <a:tailEnd type="none" w="med" len="med"/>
                    </a:lnB>
                    <a:solidFill>
                      <a:srgbClr val="16302A"/>
                    </a:solidFill>
                  </a:tcPr>
                </a:tc>
                <a:tc>
                  <a:txBody>
                    <a:bodyPr/>
                    <a:lstStyle/>
                    <a:p>
                      <a:pPr indent="0" marL="0">
                        <a:lnSpc>
                          <a:spcPts val="1820"/>
                        </a:lnSpc>
                        <a:buNone/>
                      </a:pPr>
                      <a:r>
                        <a:rPr lang="en-US" sz="1300" b="1" dirty="0">
                          <a:solidFill>
                            <a:srgbClr val="F2F4EF"/>
                          </a:solidFill>
                          <a:latin typeface="Public Sans" pitchFamily="34" charset="0"/>
                          <a:ea typeface="Public Sans" pitchFamily="34" charset="-122"/>
                          <a:cs typeface="Public Sans" pitchFamily="34" charset="-120"/>
                        </a:rPr>
                        <a:t>Action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62A25"/>
                      </a:solidFill>
                      <a:prstDash val="solid"/>
                      <a:round/>
                      <a:headEnd type="none" w="med" len="med"/>
                      <a:tailEnd type="none" w="med" len="med"/>
                    </a:lnL>
                    <a:lnR w="12700" cap="flat" cmpd="sng" algn="ctr">
                      <a:solidFill>
                        <a:srgbClr val="162A2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62A25"/>
                      </a:solidFill>
                      <a:prstDash val="solid"/>
                      <a:round/>
                      <a:headEnd type="none" w="med" len="med"/>
                      <a:tailEnd type="none" w="med" len="med"/>
                    </a:lnB>
                    <a:solidFill>
                      <a:srgbClr val="16302A"/>
                    </a:solidFill>
                  </a:tcPr>
                </a:tc>
                <a:tc>
                  <a:txBody>
                    <a:bodyPr/>
                    <a:lstStyle/>
                    <a:p>
                      <a:pPr indent="0" marL="0">
                        <a:lnSpc>
                          <a:spcPts val="1820"/>
                        </a:lnSpc>
                        <a:buNone/>
                      </a:pPr>
                      <a:r>
                        <a:rPr lang="en-US" sz="1300" b="1" dirty="0">
                          <a:solidFill>
                            <a:srgbClr val="F2F4EF"/>
                          </a:solidFill>
                          <a:latin typeface="Public Sans" pitchFamily="34" charset="0"/>
                          <a:ea typeface="Public Sans" pitchFamily="34" charset="-122"/>
                          <a:cs typeface="Public Sans" pitchFamily="34" charset="-120"/>
                        </a:rPr>
                        <a:t>Evidence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162A25"/>
                      </a:solidFill>
                      <a:prstDash val="solid"/>
                      <a:round/>
                      <a:headEnd type="none" w="med" len="med"/>
                      <a:tailEnd type="none" w="med" len="med"/>
                    </a:lnL>
                    <a:lnR w="12700" cap="flat" cmpd="sng" algn="ctr">
                      <a:solidFill>
                        <a:srgbClr val="162A2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62A25"/>
                      </a:solidFill>
                      <a:prstDash val="solid"/>
                      <a:round/>
                      <a:headEnd type="none" w="med" len="med"/>
                      <a:tailEnd type="none" w="med" len="med"/>
                    </a:lnB>
                    <a:solidFill>
                      <a:srgbClr val="16302A"/>
                    </a:solidFill>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162A25"/>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Make payment one tap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162A25"/>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11% of negative reviews; 29% drop at the payment step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162A25"/>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Stop forced log-outs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Login reviews average 1.65 stars; new users stall at checkout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Speed up product lists and basket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App speed is the top complaint; view → cart is the biggest drop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Reward top customers with service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Champions + Loyal = 71% of spend; broad campaigns showed no lift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Add random holdouts to campaigns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Without them, campaign uplift cannot be measured cleanly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C9C9C8"/>
                      </a:solidFill>
                      <a:prstDash val="solid"/>
                      <a:round/>
                      <a:headEnd type="none" w="med" len="med"/>
                      <a:tailEnd type="none" w="med" len="med"/>
                    </a:lnB>
                    <a:solidFill>
                      <a:srgbClr val="FCFCFB"/>
                    </a:solidFill>
                  </a:tcPr>
                </a:tc>
              </a:tr>
              <a:tr h="359321">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Keep coupons, and target them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indent="0" marL="0">
                        <a:lnSpc>
                          <a:spcPts val="1820"/>
                        </a:lnSpc>
                        <a:buNone/>
                      </a:pPr>
                      <a:r>
                        <a:rPr lang="en-US" sz="1300" dirty="0">
                          <a:solidFill>
                            <a:srgbClr val="1B2420"/>
                          </a:solidFill>
                          <a:latin typeface="Public Sans" pitchFamily="34" charset="0"/>
                          <a:ea typeface="Public Sans" pitchFamily="34" charset="-122"/>
                          <a:cs typeface="Public Sans" pitchFamily="34" charset="-120"/>
                        </a:rPr>
                        <a:t>No sign that coupon use reduces loyalty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6F"/>
                </a:solidFill>
                <a:latin typeface="Public Sans" pitchFamily="34" charset="0"/>
                <a:ea typeface="Public Sans" pitchFamily="34" charset="-122"/>
                <a:cs typeface="Public Sans" pitchFamily="34" charset="-120"/>
              </a:rPr>
              <a:t>Priorities 1–3 come from reviews and the funnel; 4–6 from the transaction data. Each would be tested before a full rollout.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30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4EF"/>
                </a:solidFill>
                <a:latin typeface="Rubik" pitchFamily="34" charset="0"/>
                <a:ea typeface="Rubik" pitchFamily="34" charset="-122"/>
                <a:cs typeface="Rubik" pitchFamily="34" charset="-120"/>
              </a:rPr>
              <a:t>What this data can and cannot show</a:t>
            </a:r>
            <a:endParaRPr lang="en-US" sz="3200" dirty="0"/>
          </a:p>
        </p:txBody>
      </p:sp>
      <p:sp>
        <p:nvSpPr>
          <p:cNvPr id="3" name="Shape 1"/>
          <p:cNvSpPr/>
          <p:nvPr/>
        </p:nvSpPr>
        <p:spPr>
          <a:xfrm>
            <a:off x="812800" y="1584920"/>
            <a:ext cx="5194300" cy="1305471"/>
          </a:xfrm>
          <a:prstGeom prst="roundRect">
            <a:avLst>
              <a:gd name="adj" fmla="val 7783"/>
            </a:avLst>
          </a:prstGeom>
          <a:solidFill>
            <a:srgbClr val="1F3D36"/>
          </a:solidFill>
          <a:ln/>
        </p:spPr>
      </p:sp>
      <p:sp>
        <p:nvSpPr>
          <p:cNvPr id="4" name="Text 2"/>
          <p:cNvSpPr/>
          <p:nvPr/>
        </p:nvSpPr>
        <p:spPr>
          <a:xfrm>
            <a:off x="1041400" y="1813520"/>
            <a:ext cx="4879213"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8FC1A9"/>
                </a:solidFill>
                <a:latin typeface="Rubik" pitchFamily="34" charset="0"/>
                <a:ea typeface="Rubik" pitchFamily="34" charset="-122"/>
                <a:cs typeface="Rubik" pitchFamily="34" charset="-120"/>
              </a:rPr>
              <a:t>App reviews</a:t>
            </a:r>
            <a:endParaRPr lang="en-US" sz="1800" dirty="0"/>
          </a:p>
        </p:txBody>
      </p:sp>
      <p:sp>
        <p:nvSpPr>
          <p:cNvPr id="5" name="Text 3"/>
          <p:cNvSpPr/>
          <p:nvPr/>
        </p:nvSpPr>
        <p:spPr>
          <a:xfrm>
            <a:off x="1041400" y="2164011"/>
            <a:ext cx="487921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1DB"/>
                </a:solidFill>
                <a:latin typeface="Public Sans" pitchFamily="34" charset="0"/>
                <a:ea typeface="Public Sans" pitchFamily="34" charset="-122"/>
                <a:cs typeface="Public Sans" pitchFamily="34" charset="-120"/>
              </a:rPr>
              <a:t>Self-selected and skewed negative. They show what kinds of problems exist, not how common they are.</a:t>
            </a:r>
            <a:endParaRPr lang="en-US" sz="1400" dirty="0"/>
          </a:p>
        </p:txBody>
      </p:sp>
      <p:sp>
        <p:nvSpPr>
          <p:cNvPr id="6" name="Shape 4"/>
          <p:cNvSpPr/>
          <p:nvPr/>
        </p:nvSpPr>
        <p:spPr>
          <a:xfrm>
            <a:off x="6184900" y="1584920"/>
            <a:ext cx="5194300" cy="1305471"/>
          </a:xfrm>
          <a:prstGeom prst="roundRect">
            <a:avLst>
              <a:gd name="adj" fmla="val 7783"/>
            </a:avLst>
          </a:prstGeom>
          <a:solidFill>
            <a:srgbClr val="1F3D36"/>
          </a:solidFill>
          <a:ln/>
        </p:spPr>
      </p:sp>
      <p:sp>
        <p:nvSpPr>
          <p:cNvPr id="7" name="Text 5"/>
          <p:cNvSpPr/>
          <p:nvPr/>
        </p:nvSpPr>
        <p:spPr>
          <a:xfrm>
            <a:off x="6413500" y="1813520"/>
            <a:ext cx="4879213"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8FC1A9"/>
                </a:solidFill>
                <a:latin typeface="Rubik" pitchFamily="34" charset="0"/>
                <a:ea typeface="Rubik" pitchFamily="34" charset="-122"/>
                <a:cs typeface="Rubik" pitchFamily="34" charset="-120"/>
              </a:rPr>
              <a:t>GA4 sample</a:t>
            </a:r>
            <a:endParaRPr lang="en-US" sz="1800" dirty="0"/>
          </a:p>
        </p:txBody>
      </p:sp>
      <p:sp>
        <p:nvSpPr>
          <p:cNvPr id="8" name="Text 6"/>
          <p:cNvSpPr/>
          <p:nvPr/>
        </p:nvSpPr>
        <p:spPr>
          <a:xfrm>
            <a:off x="6413500" y="2164011"/>
            <a:ext cx="487921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1DB"/>
                </a:solidFill>
                <a:latin typeface="Public Sans" pitchFamily="34" charset="0"/>
                <a:ea typeface="Public Sans" pitchFamily="34" charset="-122"/>
                <a:cs typeface="Public Sans" pitchFamily="34" charset="-120"/>
              </a:rPr>
              <a:t>Google Merchandise Store: real e-commerce data, but not grocery, obfuscated, and from a peak season.</a:t>
            </a:r>
            <a:endParaRPr lang="en-US" sz="1400" dirty="0"/>
          </a:p>
        </p:txBody>
      </p:sp>
      <p:sp>
        <p:nvSpPr>
          <p:cNvPr id="9" name="Shape 7"/>
          <p:cNvSpPr/>
          <p:nvPr/>
        </p:nvSpPr>
        <p:spPr>
          <a:xfrm>
            <a:off x="812800" y="3068191"/>
            <a:ext cx="5194300" cy="1305471"/>
          </a:xfrm>
          <a:prstGeom prst="roundRect">
            <a:avLst>
              <a:gd name="adj" fmla="val 7783"/>
            </a:avLst>
          </a:prstGeom>
          <a:solidFill>
            <a:srgbClr val="1F3D36"/>
          </a:solidFill>
          <a:ln/>
        </p:spPr>
      </p:sp>
      <p:sp>
        <p:nvSpPr>
          <p:cNvPr id="10" name="Text 8"/>
          <p:cNvSpPr/>
          <p:nvPr/>
        </p:nvSpPr>
        <p:spPr>
          <a:xfrm>
            <a:off x="1041400" y="3296791"/>
            <a:ext cx="4879213"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8FC1A9"/>
                </a:solidFill>
                <a:latin typeface="Rubik" pitchFamily="34" charset="0"/>
                <a:ea typeface="Rubik" pitchFamily="34" charset="-122"/>
                <a:cs typeface="Rubik" pitchFamily="34" charset="-120"/>
              </a:rPr>
              <a:t>The Complete Journey</a:t>
            </a:r>
            <a:endParaRPr lang="en-US" sz="1800" dirty="0"/>
          </a:p>
        </p:txBody>
      </p:sp>
      <p:sp>
        <p:nvSpPr>
          <p:cNvPr id="11" name="Text 9"/>
          <p:cNvSpPr/>
          <p:nvPr/>
        </p:nvSpPr>
        <p:spPr>
          <a:xfrm>
            <a:off x="1041400" y="3647281"/>
            <a:ext cx="487921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1DB"/>
                </a:solidFill>
                <a:latin typeface="Public Sans" pitchFamily="34" charset="0"/>
                <a:ea typeface="Public Sans" pitchFamily="34" charset="-122"/>
                <a:cs typeface="Public Sans" pitchFamily="34" charset="-120"/>
              </a:rPr>
              <a:t>One anonymised US grocer in 2017 (84.51° release), not Tesco. Campaigns were not randomised.</a:t>
            </a:r>
            <a:endParaRPr lang="en-US" sz="1400" dirty="0"/>
          </a:p>
        </p:txBody>
      </p:sp>
      <p:sp>
        <p:nvSpPr>
          <p:cNvPr id="12" name="Shape 10"/>
          <p:cNvSpPr/>
          <p:nvPr/>
        </p:nvSpPr>
        <p:spPr>
          <a:xfrm>
            <a:off x="6184900" y="3068191"/>
            <a:ext cx="5194300" cy="1305471"/>
          </a:xfrm>
          <a:prstGeom prst="roundRect">
            <a:avLst>
              <a:gd name="adj" fmla="val 7783"/>
            </a:avLst>
          </a:prstGeom>
          <a:solidFill>
            <a:srgbClr val="1F3D36"/>
          </a:solidFill>
          <a:ln/>
        </p:spPr>
      </p:sp>
      <p:sp>
        <p:nvSpPr>
          <p:cNvPr id="13" name="Text 11"/>
          <p:cNvSpPr/>
          <p:nvPr/>
        </p:nvSpPr>
        <p:spPr>
          <a:xfrm>
            <a:off x="6413500" y="3296791"/>
            <a:ext cx="4879213"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8FC1A9"/>
                </a:solidFill>
                <a:latin typeface="Rubik" pitchFamily="34" charset="0"/>
                <a:ea typeface="Rubik" pitchFamily="34" charset="-122"/>
                <a:cs typeface="Rubik" pitchFamily="34" charset="-120"/>
              </a:rPr>
              <a:t>A/B test</a:t>
            </a:r>
            <a:endParaRPr lang="en-US" sz="1800" dirty="0"/>
          </a:p>
        </p:txBody>
      </p:sp>
      <p:sp>
        <p:nvSpPr>
          <p:cNvPr id="14" name="Text 12"/>
          <p:cNvSpPr/>
          <p:nvPr/>
        </p:nvSpPr>
        <p:spPr>
          <a:xfrm>
            <a:off x="6413500" y="3647281"/>
            <a:ext cx="487921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1DB"/>
                </a:solidFill>
                <a:latin typeface="Public Sans" pitchFamily="34" charset="0"/>
                <a:ea typeface="Public Sans" pitchFamily="34" charset="-122"/>
                <a:cs typeface="Public Sans" pitchFamily="34" charset="-120"/>
              </a:rPr>
              <a:t>Designed, not run. The only results shown are a labelled simulation of the analysis.</a:t>
            </a:r>
            <a:endParaRPr lang="en-US" sz="1400" dirty="0"/>
          </a:p>
        </p:txBody>
      </p:sp>
      <p:sp>
        <p:nvSpPr>
          <p:cNvPr id="15" name="Text 13"/>
          <p:cNvSpPr/>
          <p:nvPr/>
        </p:nvSpPr>
        <p:spPr>
          <a:xfrm>
            <a:off x="812800" y="467846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4EF"/>
                </a:solidFill>
                <a:latin typeface="Public Sans" pitchFamily="34" charset="0"/>
                <a:ea typeface="Public Sans" pitchFamily="34" charset="-122"/>
                <a:cs typeface="Public Sans" pitchFamily="34" charset="-120"/>
              </a:rPr>
              <a:t>Every number in this deck comes from code that ran. Full method and code are in the project README.</a:t>
            </a:r>
            <a:endParaRPr lang="en-US" sz="1400" dirty="0"/>
          </a:p>
        </p:txBody>
      </p:sp>
    </p:spTree>
  </p:cSld>
  <p:clrMapOvr>
    <a:masterClrMapping/>
  </p:clrMapOvr>
</p:sld>
</file>

<file path=ppt/theme/theme1.xml><?xml version="1.0" encoding="utf-8"?>
<a:theme xmlns:a="http://schemas.openxmlformats.org/drawingml/2006/main" name="Online Grocery Customer Journey">
  <a:themeElements>
    <a:clrScheme name="Online Grocery Customer Journey">
      <a:dk1>
        <a:srgbClr val="1B2420"/>
      </a:dk1>
      <a:lt1>
        <a:srgbClr val="FCFCFB"/>
      </a:lt1>
      <a:dk2>
        <a:srgbClr val="535A57"/>
      </a:dk2>
      <a:lt2>
        <a:srgbClr val="E6E6E5"/>
      </a:lt2>
      <a:accent1>
        <a:srgbClr val="C2501F"/>
      </a:accent1>
      <a:accent2>
        <a:srgbClr val="1F5FAE"/>
      </a:accent2>
      <a:accent3>
        <a:srgbClr val="8FC1A9"/>
      </a:accent3>
      <a:accent4>
        <a:srgbClr val="2A78D6"/>
      </a:accent4>
      <a:accent5>
        <a:srgbClr val="BFD3EE"/>
      </a:accent5>
      <a:accent6>
        <a:srgbClr val="3D4742"/>
      </a:accent6>
      <a:hlink>
        <a:srgbClr val="0563C1"/>
      </a:hlink>
      <a:folHlink>
        <a:srgbClr val="954F72"/>
      </a:folHlink>
    </a:clrScheme>
    <a:fontScheme name="Online Grocery Customer Journey">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Grocery Customer Journey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2026-10-26T17:25:04Z</dcterms:created>
  <dcterms:modified xsi:type="dcterms:W3CDTF">2026-10-26T17:25:04Z</dcterms:modified>
</cp:coreProperties>
</file>